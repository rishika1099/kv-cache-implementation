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CC5755-6975-4ED8-ADE0-38A2E06BC0A0}">
  <a:tblStyle styleId="{50CC5755-6975-4ED8-ADE0-38A2E06BC0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4b99b9f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df4b99b9f7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df4b99b9f7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3b6c282f_3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f3b6c282f_3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f3b6c282f_3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4b99b9f7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df4b99b9f7_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f4b99b9f7_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f3b6c282f_3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df3b6c282f_3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f3b6c282f_3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91440"/>
            <a:ext cx="109728" cy="496062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56032" y="516149"/>
            <a:ext cx="8595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KV-Cache Optimization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LLM Inference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56032" y="21945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KIVI · TopK · SnapKV · MLA  —  Llama-2-7B on H100 80GB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256032" y="267004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2A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256032" y="28346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KV  ·  Rishika Mamidibathula (rm4318),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Suhas Morisetty (vm2825), Ziheng Wang (zw3153), Tony Tian (jt3640)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GitHub: github.com/rishika1099/KV-Cache-Implementation</a:t>
            </a:r>
            <a:b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W&amp;B: wandb.ai/rm4318-columbia-university/kv-cache-hpml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56032" y="416052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80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80A0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HPML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Motivation — The KV Cache Bottleneck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28600" y="731520"/>
            <a:ext cx="45720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Why KV cache is the bottleneck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LLM decoding is memory-bandwidth bound</a:t>
            </a:r>
            <a:r>
              <a:rPr lang="en-US" sz="1100">
                <a:solidFill>
                  <a:schemeClr val="dk1"/>
                </a:solidFill>
              </a:rPr>
              <a:t>, since every generated token requires re-reading the KV cache from GPU memory.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KV-cache memory grows linearly</a:t>
            </a:r>
            <a:r>
              <a:rPr lang="en-US" sz="1100">
                <a:solidFill>
                  <a:schemeClr val="dk1"/>
                </a:solidFill>
              </a:rPr>
              <a:t xml:space="preserve"> with sequence length, batch size, and number of layers.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At BS=32 and seq=4K, Llama-2-7B needs ~65 GB just for KV cache</a:t>
            </a:r>
            <a:r>
              <a:rPr lang="en-US" sz="1100">
                <a:solidFill>
                  <a:schemeClr val="dk1"/>
                </a:solidFill>
              </a:rPr>
              <a:t>, nearly saturating an H100 80GB GPU.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Model weights stay fixed, but KV cache keeps expanding during generation</a:t>
            </a:r>
            <a:r>
              <a:rPr lang="en-US" sz="1100">
                <a:solidFill>
                  <a:schemeClr val="dk1"/>
                </a:solidFill>
              </a:rPr>
              <a:t>, creating major memory and latency bottlenecks.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Three compression approaches</a:t>
            </a:r>
            <a:b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: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ewer bits per KV element (KIVI)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Sparse selection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A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ttend to only important tokens (TopK, SnapKV)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Latent projection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: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ow-rank bottleneck representation (MLA)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937760" y="713232"/>
            <a:ext cx="3931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937760" y="713232"/>
            <a:ext cx="54864" cy="3566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74920" y="7863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KV Cache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74920" y="11155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7CC"/>
                </a:solidFill>
                <a:latin typeface="Consolas"/>
                <a:ea typeface="Consolas"/>
                <a:cs typeface="Consolas"/>
                <a:sym typeface="Consolas"/>
              </a:rPr>
              <a:t>mem = 2 × L × H × D × S × B × dtype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" name="Google Shape;43;p4"/>
          <p:cNvGraphicFramePr/>
          <p:nvPr/>
        </p:nvGraphicFramePr>
        <p:xfrm>
          <a:off x="5074920" y="1435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{50CC5755-6975-4ED8-ADE0-38A2E06BC0A0}</a:tableStyleId>
              </a:tblPr>
              <a:tblGrid>
                <a:gridCol w="868675"/>
                <a:gridCol w="822950"/>
                <a:gridCol w="19659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Symbol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Value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Meaning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Layers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Attn heads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128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Head dim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4096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Seq length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Batch size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dtype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2 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FP16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Total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63946"/>
                          </a:solidFill>
                        </a:rPr>
                        <a:t>65.5 GB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→ OOM risk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Experimental Setup &amp; Methods Overview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28600" y="713232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28600" y="713232"/>
            <a:ext cx="54864" cy="132588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7680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Model &amp; Harness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107899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Llama-2-7b-chat-hf · 32L 32H 128D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PyTorch 2.4.1 · Transformers 4.44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Greedy decode · seed=42 · BS varied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0" y="713232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200400" y="713232"/>
            <a:ext cx="54864" cy="1325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337560" y="7680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337560" y="107899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1× H100 80GB HBM3 (Modal cloud)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CUDA 12.1 · Triton 3.0 · flash-attn 2.5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 KIVI CUDA+Triton kernels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172200" y="713232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172200" y="713232"/>
            <a:ext cx="54864" cy="13258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309360" y="7680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309360" y="1078992"/>
            <a:ext cx="2560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LongBench: 6 tasks × 20 examples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qasper · multifieldqa_en · triviaqa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2wikimqa · multi_news · lcc</a:t>
            </a:r>
            <a:endParaRPr b="0" i="0" sz="105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Synthetic fixed size batches for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throughput measurements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28600" y="214884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Five Methods at a Glance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" name="Google Shape;68;p5"/>
          <p:cNvGraphicFramePr/>
          <p:nvPr/>
        </p:nvGraphicFramePr>
        <p:xfrm>
          <a:off x="22860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{50CC5755-6975-4ED8-ADE0-38A2E06BC0A0}</a:tableStyleId>
              </a:tblPr>
              <a:tblGrid>
                <a:gridCol w="1463050"/>
                <a:gridCol w="914400"/>
                <a:gridCol w="1143000"/>
                <a:gridCol w="1371600"/>
                <a:gridCol w="3739900"/>
              </a:tblGrid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Type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Compression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Quality (overall)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Key Tradeoff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A8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A6A8A"/>
                          </a:solidFill>
                        </a:rPr>
                        <a:t>Baseline (FP16)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Reference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1×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—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77CC"/>
                          </a:solidFill>
                        </a:rPr>
                        <a:t>KIVI 4-bit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Quantize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~4×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0.292 (+0.3%)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Slower at B=1; wins at B≥16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77CC"/>
                          </a:solidFill>
                        </a:rPr>
                        <a:t>KIVI 2-bit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Quantize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</a:t>
                      </a:r>
                      <a:r>
                        <a:rPr lang="en-US" sz="950">
                          <a:solidFill>
                            <a:srgbClr val="1E293B"/>
                          </a:solidFill>
                        </a:rPr>
                        <a:t>8</a:t>
                      </a: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63946"/>
                          </a:solidFill>
                        </a:rPr>
                        <a:t>0.273 (−6.2%)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Best batch throughput; quality cost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TopK K=</a:t>
                      </a:r>
                      <a:r>
                        <a:rPr lang="en-US" sz="950">
                          <a:solidFill>
                            <a:srgbClr val="2DC653"/>
                          </a:solidFill>
                        </a:rPr>
                        <a:t>1024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Sparse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N/A (attn scope)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</a:t>
                      </a:r>
                      <a:r>
                        <a:rPr lang="en-US" sz="950">
                          <a:solidFill>
                            <a:srgbClr val="2DC653"/>
                          </a:solidFill>
                        </a:rPr>
                        <a:t>292</a:t>
                      </a: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 xml:space="preserve"> (+0.4%)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Per-step scoring overhead at B=1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1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9F1C"/>
                          </a:solidFill>
                        </a:rPr>
                        <a:t>SnapKV 0.4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Evict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</a:t>
                      </a:r>
                      <a:r>
                        <a:rPr lang="en-US" sz="950">
                          <a:solidFill>
                            <a:srgbClr val="1E293B"/>
                          </a:solidFill>
                        </a:rPr>
                        <a:t>2.5</a:t>
                      </a: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0.295 (+0.3%)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No per-step cost; one-shot eviction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C3AED"/>
                          </a:solidFill>
                        </a:rPr>
                        <a:t>MLA (B=1)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Latent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3.9×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63946"/>
                          </a:solidFill>
                        </a:rPr>
                        <a:t>0.081* (−65%)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Needs more training; KV+decode win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5"/>
          <p:cNvSpPr/>
          <p:nvPr/>
        </p:nvSpPr>
        <p:spPr>
          <a:xfrm>
            <a:off x="228600" y="4553712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MLA baseline uses different truncation (2048 vs 4096 tokens) — quality numbers not directly comparable to other methods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420624" y="877824"/>
            <a:ext cx="8302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Unified view of the KV cache pipeline and compression points.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74320" y="1115568"/>
            <a:ext cx="1371600" cy="5943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74320" y="1115568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Input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920240" y="1115568"/>
            <a:ext cx="1371600" cy="5943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1920240" y="1115568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(Attention)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566160" y="1115568"/>
            <a:ext cx="1463040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566160" y="1115568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KV 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(HBM)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303520" y="1115568"/>
            <a:ext cx="1371600" cy="5943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303520" y="1115568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(Attention)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949440" y="1115568"/>
            <a:ext cx="1554480" cy="5943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949440" y="1115568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Output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6"/>
          <p:cNvCxnSpPr/>
          <p:nvPr/>
        </p:nvCxnSpPr>
        <p:spPr>
          <a:xfrm>
            <a:off x="1645920" y="1412748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6B6F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6"/>
          <p:cNvSpPr/>
          <p:nvPr/>
        </p:nvSpPr>
        <p:spPr>
          <a:xfrm>
            <a:off x="1737360" y="129387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3291840" y="1412748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6B6F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3383280" y="129387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5029200" y="1412748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6B6F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5120640" y="129387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6"/>
          <p:cNvCxnSpPr/>
          <p:nvPr/>
        </p:nvCxnSpPr>
        <p:spPr>
          <a:xfrm>
            <a:off x="6675120" y="1412748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6B6F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6766560" y="129387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233672" y="1792224"/>
            <a:ext cx="128016" cy="12801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6"/>
          <p:cNvCxnSpPr/>
          <p:nvPr/>
        </p:nvCxnSpPr>
        <p:spPr>
          <a:xfrm>
            <a:off x="4297680" y="1920240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3483864" y="2121408"/>
            <a:ext cx="162763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483864" y="2121408"/>
            <a:ext cx="457200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483864" y="212140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KIVI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986784" y="2139696"/>
            <a:ext cx="117043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Quantize K/V to INT2/INT4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 cache write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07024" y="2432304"/>
            <a:ext cx="128016" cy="12801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6"/>
          <p:cNvCxnSpPr/>
          <p:nvPr/>
        </p:nvCxnSpPr>
        <p:spPr>
          <a:xfrm>
            <a:off x="5971032" y="2560320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16A34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5221224" y="2761488"/>
            <a:ext cx="1499616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221224" y="2761488"/>
            <a:ext cx="457200" cy="5029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221224" y="276148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724144" y="2779776"/>
            <a:ext cx="104241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Attend to only top-K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tokens at each decode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933188" y="3072384"/>
            <a:ext cx="128100" cy="1281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6"/>
          <p:cNvCxnSpPr/>
          <p:nvPr/>
        </p:nvCxnSpPr>
        <p:spPr>
          <a:xfrm>
            <a:off x="4997196" y="3200400"/>
            <a:ext cx="0" cy="201300"/>
          </a:xfrm>
          <a:prstGeom prst="straightConnector1">
            <a:avLst/>
          </a:prstGeom>
          <a:noFill/>
          <a:ln cap="flat" cmpd="sng" w="12700">
            <a:solidFill>
              <a:srgbClr val="D9770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6"/>
          <p:cNvSpPr/>
          <p:nvPr/>
        </p:nvSpPr>
        <p:spPr>
          <a:xfrm>
            <a:off x="4183380" y="3401568"/>
            <a:ext cx="1627500" cy="50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183380" y="3401568"/>
            <a:ext cx="457200" cy="502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183380" y="3401568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SnapKV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86300" y="3419856"/>
            <a:ext cx="11703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Evict low-vote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once after prefill ends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233672" y="3694176"/>
            <a:ext cx="128016" cy="128016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6"/>
          <p:cNvCxnSpPr/>
          <p:nvPr/>
        </p:nvCxnSpPr>
        <p:spPr>
          <a:xfrm>
            <a:off x="4297680" y="3822192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/>
          <p:nvPr/>
        </p:nvSpPr>
        <p:spPr>
          <a:xfrm>
            <a:off x="3483864" y="4023360"/>
            <a:ext cx="162763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483864" y="4023360"/>
            <a:ext cx="45720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483864" y="40233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986784" y="4041648"/>
            <a:ext cx="117043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Store latent vector 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instead of full (K, 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20624" y="18288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Baseline (FP16): no intervention — full K/V retained and read at every decode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257794" y="3967572"/>
            <a:ext cx="3492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★ MLA is the only method that fundamentally changes what is stored — replacing (K, V) with a compressed latent vector c. All other methods compress or select from existing K/V tensors.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0" y="-125"/>
            <a:ext cx="9144000" cy="640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46274" y="64120"/>
            <a:ext cx="83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 xml:space="preserve">Technical Approach 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0" y="640080"/>
            <a:ext cx="137100" cy="4251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420624" y="4224528"/>
            <a:ext cx="8302800" cy="457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48640" y="42793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Stability: 5 batches per config, first excluded as warmup; mean of 4 stable batches reported. Model + dataset loaded from pinned Modal volumes for run-to-run reproducibility.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5" y="-112"/>
            <a:ext cx="9144000" cy="640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84849" y="64117"/>
            <a:ext cx="83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Profiling Methodology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0" y="640080"/>
            <a:ext cx="137100" cy="4251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20625" y="816088"/>
            <a:ext cx="4032000" cy="3259800"/>
          </a:xfrm>
          <a:prstGeom prst="rect">
            <a:avLst/>
          </a:prstGeom>
          <a:solidFill>
            <a:srgbClr val="FFFFFF"/>
          </a:solidFill>
          <a:ln cap="flat" cmpd="sng" w="23375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116808" rotWithShape="0" algn="bl" dir="8100000" dist="46723">
              <a:srgbClr val="000000">
                <a:alpha val="10200"/>
              </a:srgbClr>
            </a:outerShdw>
          </a:effectLst>
        </p:spPr>
        <p:txBody>
          <a:bodyPr anchorCtr="0" anchor="ctr" bIns="168175" lIns="168175" spcFirstLastPara="1" rIns="168175" wrap="square" tIns="1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20625" y="816075"/>
            <a:ext cx="70500" cy="3259800"/>
          </a:xfrm>
          <a:prstGeom prst="rect">
            <a:avLst/>
          </a:prstGeom>
          <a:solidFill>
            <a:schemeClr val="accent1"/>
          </a:solidFill>
          <a:ln cap="flat" cmpd="sng" w="233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8175" lIns="168175" spcFirstLastPara="1" rIns="168175" wrap="square" tIns="1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691550" y="827024"/>
            <a:ext cx="4032000" cy="3259800"/>
          </a:xfrm>
          <a:prstGeom prst="rect">
            <a:avLst/>
          </a:prstGeom>
          <a:solidFill>
            <a:srgbClr val="FFFFFF"/>
          </a:solidFill>
          <a:ln cap="flat" cmpd="sng" w="23375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116808" rotWithShape="0" algn="bl" dir="8100000" dist="46723">
              <a:srgbClr val="000000">
                <a:alpha val="10200"/>
              </a:srgbClr>
            </a:outerShdw>
          </a:effectLst>
        </p:spPr>
        <p:txBody>
          <a:bodyPr anchorCtr="0" anchor="ctr" bIns="168175" lIns="168175" spcFirstLastPara="1" rIns="168175" wrap="square" tIns="1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691550" y="816200"/>
            <a:ext cx="78000" cy="3259800"/>
          </a:xfrm>
          <a:prstGeom prst="rect">
            <a:avLst/>
          </a:prstGeom>
          <a:solidFill>
            <a:schemeClr val="accent6"/>
          </a:solidFill>
          <a:ln cap="flat" cmpd="sng" w="233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8175" lIns="168175" spcFirstLastPara="1" rIns="168175" wrap="square" tIns="1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34586" y="973768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634586" y="1238944"/>
            <a:ext cx="3645600" cy="15600"/>
          </a:xfrm>
          <a:prstGeom prst="straightConnector1">
            <a:avLst/>
          </a:prstGeom>
          <a:noFill/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7"/>
          <p:cNvSpPr/>
          <p:nvPr/>
        </p:nvSpPr>
        <p:spPr>
          <a:xfrm>
            <a:off x="634586" y="1284664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PyTorch Profiler / torch.profiler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4586" y="1549840"/>
            <a:ext cx="391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kernel-level op timing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4586" y="1796728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torch.cuda.max_memory_allocated()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4586" y="2061904"/>
            <a:ext cx="391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peak GPU memory per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34586" y="2308792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Weights &amp; Biases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34586" y="2573968"/>
            <a:ext cx="391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run-level metric logging +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34586" y="2820856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Custom timing harness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34586" y="3086032"/>
            <a:ext cx="391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TTFT + per-token decode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34586" y="3332920"/>
            <a:ext cx="391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Modal volume cache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34586" y="3598096"/>
            <a:ext cx="391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model &amp; dataset pinned across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846315" y="973756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Metrics captured</a:t>
            </a:r>
            <a:endParaRPr b="0" i="0" sz="1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 flipH="1" rot="10800000">
            <a:off x="4846315" y="1232932"/>
            <a:ext cx="3666000" cy="6000"/>
          </a:xfrm>
          <a:prstGeom prst="straightConnector1">
            <a:avLst/>
          </a:prstGeom>
          <a:noFill/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7"/>
          <p:cNvSpPr/>
          <p:nvPr/>
        </p:nvSpPr>
        <p:spPr>
          <a:xfrm>
            <a:off x="4846315" y="1284652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TTFT (time to first token)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46315" y="1549828"/>
            <a:ext cx="40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prefill latency in 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46315" y="1796715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Decode throughput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46315" y="2061892"/>
            <a:ext cx="40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tokens/sec at each batch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46315" y="2308780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Peak GPU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46315" y="2573956"/>
            <a:ext cx="40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GB via CUDA memory tracker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846315" y="2823095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LongBench task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846315" y="3088271"/>
            <a:ext cx="40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F1, ROUGE-L, or edit-similarity per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 xml:space="preserve">KIVI — 2/4-bit Asymmetric KV Quantization 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01168" y="713232"/>
            <a:ext cx="41605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01168" y="713232"/>
            <a:ext cx="54864" cy="388620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47472" y="786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47472" y="1078992"/>
            <a:ext cx="38404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Keys: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per-channel quantization (scale/zero per head across seq dim)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Values: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per-token grouped quantization (group_size=32)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Residual buffer: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last 128 tokens always FP16; quantized only when full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Kernels: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triton_quantize_and_pack fuses INT4 packing; cuda_bmm_fA_qB_outer dequantizes on-the-fly during GEMM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Cache format: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9-tuple per layer (quantized blocks + scales + zeros + residual)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 xml:space="preserve">Crossover insight: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INT4 GEMV is slower than FP16 GEMV at low batch (GEMV doesn't saturate tensor cores). KIVI wins only once decode becomes near-GEMM at BS≥16, where HBM bandwidth saving outweighs dequant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713232"/>
            <a:ext cx="4389120" cy="187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697480"/>
            <a:ext cx="4389120" cy="190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 xml:space="preserve">TopK / TokenSelect — Sparse Attention 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01168" y="713232"/>
            <a:ext cx="41605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01168" y="713232"/>
            <a:ext cx="54864" cy="38862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47472" y="786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47472" y="1078992"/>
            <a:ext cx="38404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Three-region KV cache (full FP16 retained):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 Sink (128) + Top-K middle (dynamic) + Local (512)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Scoring: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Triton kernel _topk_score_kernel fuses Q·K^T across all 32 heads → softmax → sum → top-K indices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Cache reuse: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cosine similarity (threshold=0.9) skips re-scoring if query is similar to previous step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RoPE correction: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true_seq_length passed to each step to preserve positional encoding after cache slicing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 xml:space="preserve">TopK-Flash variant: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Paged KV pool (256-token pages) + flash_attn_with_kvcache enables zero-copy selective attention. At 32K prefill: TTFT −33%, memory −19% (52→42 GB). Baseline OOMs at 64K; TopK-Flash handles it at 65.8 GB.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713232"/>
            <a:ext cx="4389120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724912"/>
            <a:ext cx="4389120" cy="187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MLA — Multi-head Latent Attention via TransMLA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01168" y="713232"/>
            <a:ext cx="41605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201168" y="713232"/>
            <a:ext cx="54864" cy="3886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47472" y="786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47472" y="1078992"/>
            <a:ext cx="38404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Latent KV: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stores a compressed latent vector c per token instead of full (K,V) tensors; expanded during attention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; Attention Absorption speeds up inference.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Model: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botsxc/llama2-7b-chat-mla-2048-8 (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freqfold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2048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latent dimension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,256 context length calibration), no training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KV reduction: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consistently 3.9× smaller across all prefill lengths (402→104 MB at p=512)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Decode speedup: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1.26–1.32× at B=1 —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confirms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HBM-bandwidth-bound decode even for single-request inference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 xml:space="preserve">Quality limitation: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Overall drops 0.238 → 0.081 (−65%) on LongBench. QA/retrieval tasks collapse (triviaqa −83%). Only lcc (code) marginally improves. Root cause: checkpoint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calibrated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at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-token context with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4x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compression and without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finetuning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— insufficient capacity for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long context.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Needs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finetuning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713232"/>
            <a:ext cx="438912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651760"/>
            <a:ext cx="4389120" cy="194767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4480560" y="460857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MLA baseline used 2048-token truncation vs 4096 for other methods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LongBench Quality — All Methods (6 tasks × 20 examples)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713232"/>
            <a:ext cx="868680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/>
          <p:nvPr/>
        </p:nvSpPr>
        <p:spPr>
          <a:xfrm>
            <a:off x="201168" y="4096512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 xml:space="preserve">KIVI 4-bit &amp; TopK K=1024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statistically tied with baseline (0.292) — lossless compression at target budget.  </a:t>
            </a: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 xml:space="preserve">SnapKV 0.4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marginally outperforms (+0.3%).  </a:t>
            </a: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 xml:space="preserve">TopK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beats baseline on triviaqa across all K values (+20% at K=1024); worst on multifieldqa_en (mid-context pruning).  </a:t>
            </a: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 xml:space="preserve">KIVI 2-bit &amp; TopK K=512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converge to ~0.274 via complementary failure modes.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Throughput &amp; Memory — All Methods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721462"/>
            <a:ext cx="4343400" cy="24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13232"/>
            <a:ext cx="4224528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/>
          <p:nvPr/>
        </p:nvSpPr>
        <p:spPr>
          <a:xfrm>
            <a:off x="201168" y="3227832"/>
            <a:ext cx="42519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201168" y="3227832"/>
            <a:ext cx="54864" cy="68580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38328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 xml:space="preserve">KIVI: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78408" y="3282696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KIVI B=1: 30 tok/s (0.4× baseline) — INT4 GEMV is slower than FP16 GEMV. Crossover at BS=16 (480 vs 438). BS=32: 957 vs 497 tok/s (1.93×). BS=128: 1526 tok/s (baseline OOM at BS=64).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663440" y="3227832"/>
            <a:ext cx="42519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663440" y="3227832"/>
            <a:ext cx="54864" cy="6858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800600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 xml:space="preserve">TopK: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440680" y="3282696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TopK B=1: 43 tok/s (0.6× baseline) — per-step scoring overhead exceeds attention savings at 1K context. Gains appear only at 32K+ where selection cost &lt; attention cost.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201168" y="3977640"/>
            <a:ext cx="42519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201168" y="3977640"/>
            <a:ext cx="54864" cy="685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338328" y="40507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 xml:space="preserve">MLA: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978408" y="4032504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MLA B=1: 43-44 tok/s (1.26-1.32× over baseline) — 3.9× KV reduction directly translates to decode speedup. Unique advantage: faster even at low batch.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663440" y="3977640"/>
            <a:ext cx="42519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663440" y="3977640"/>
            <a:ext cx="54864" cy="68580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800600" y="40507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 xml:space="preserve">SnapKV: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40680" y="4032504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SnapKV: no per-step overhead; decode throughput equivalent to baseline over the compressed cache. Memory ~2.5× smaller.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SnapKV — One-Shot Prefill Eviction  (budget_ratio = 0.4)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01168" y="713232"/>
            <a:ext cx="41605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201168" y="713232"/>
            <a:ext cx="54864" cy="388620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47472" y="786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47472" y="1078992"/>
            <a:ext cx="38404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How it works (5 steps):</a:t>
            </a:r>
            <a:br>
              <a:rPr b="1" i="0" lang="en-US" sz="115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1. Prefill: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full causal attention over complete prompt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2. Vote: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attention scores over last 32 query positions per head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3. Pool: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max-pool (kernel_size=7) to smooth noise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4. Select: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 top floor(S × 0.4) tokens per head; evict the rest permanently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5. Decode: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decode over fixed reduced cache — zero per-step overhead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 xml:space="preserve">Key insight: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triviaqa improves +4.3pt because the observation-window vote actively selects answer-aligned positions and removes irrelevant prefix noise. Only qasper degrades (−2.0pt) where scattered evidence spans fall outside the observation window.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480560" y="3273552"/>
            <a:ext cx="43891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4480560" y="3273552"/>
            <a:ext cx="54864" cy="132588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4" name="Google Shape;274;p13"/>
          <p:cNvGraphicFramePr/>
          <p:nvPr/>
        </p:nvGraphicFramePr>
        <p:xfrm>
          <a:off x="4507992" y="3328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{50CC5755-6975-4ED8-ADE0-38A2E06BC0A0}</a:tableStyleId>
              </a:tblPr>
              <a:tblGrid>
                <a:gridCol w="1463050"/>
                <a:gridCol w="960125"/>
                <a:gridCol w="960125"/>
                <a:gridCol w="9327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Task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SnapKV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Δ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triviaqa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0.6444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0.6870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C653"/>
                          </a:solidFill>
                        </a:rPr>
                        <a:t>+0.043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multifieldqa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0.3803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0.3870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C653"/>
                          </a:solidFill>
                        </a:rPr>
                        <a:t>+0.007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</a:rPr>
                        <a:t>OVERALL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</a:rPr>
                        <a:t>0.2914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</a:rPr>
                        <a:t>0.2946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DC653"/>
                          </a:solidFill>
                        </a:rPr>
                        <a:t>+0.003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E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qasper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0.1723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0.1526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63946"/>
                          </a:solidFill>
                        </a:rPr>
                        <a:t>−0.020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pic>
        <p:nvPicPr>
          <p:cNvPr id="275" name="Google Shape;2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088" y="792480"/>
            <a:ext cx="4232269" cy="2328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8321040" y="4910328"/>
            <a:ext cx="585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342900" y="727150"/>
            <a:ext cx="4297800" cy="39135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342910" y="726945"/>
            <a:ext cx="63900" cy="39135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507502" y="3497577"/>
            <a:ext cx="4005000" cy="10242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3470" y="726945"/>
            <a:ext cx="1920300" cy="19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0870" y="726945"/>
            <a:ext cx="1920300" cy="19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/>
          <p:nvPr/>
        </p:nvSpPr>
        <p:spPr>
          <a:xfrm>
            <a:off x="4823470" y="2802633"/>
            <a:ext cx="3977700" cy="292500"/>
          </a:xfrm>
          <a:prstGeom prst="rect">
            <a:avLst/>
          </a:prstGeom>
          <a:solidFill>
            <a:srgbClr val="1C1F26"/>
          </a:solidFill>
          <a:ln cap="flat" cmpd="sng" w="12700">
            <a:solidFill>
              <a:srgbClr val="1C1F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4860046" y="2802633"/>
            <a:ext cx="76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5664718" y="2802633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FP16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853438" y="2802633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KIVITopK 4-bit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8115310" y="2802633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4823470" y="3095241"/>
            <a:ext cx="397770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4860046" y="3095241"/>
            <a:ext cx="7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Decode 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664718" y="3095241"/>
            <a:ext cx="117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21.4 tok/s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853438" y="3095241"/>
            <a:ext cx="122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13.7 tok/s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115310" y="3095241"/>
            <a:ext cx="62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−36%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823470" y="3570729"/>
            <a:ext cx="39777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4860046" y="3570729"/>
            <a:ext cx="7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Peak GPU mem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664718" y="3570729"/>
            <a:ext cx="117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52.1 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853438" y="3570729"/>
            <a:ext cx="122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25.8 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8115310" y="3570729"/>
            <a:ext cx="62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−51%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4823470" y="4046217"/>
            <a:ext cx="397770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4860046" y="4046217"/>
            <a:ext cx="7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LongBench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5664718" y="4046217"/>
            <a:ext cx="117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0.291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853438" y="4046217"/>
            <a:ext cx="122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0.297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115310" y="4046217"/>
            <a:ext cx="62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823470" y="4539993"/>
            <a:ext cx="397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Llama-2-7B · H100 · prefill=32768 · gen=512 · B=1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129249" y="82433"/>
            <a:ext cx="83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KIVI × TopK — Quantised-Sparse Hybrid  (32K context)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0" y="640080"/>
            <a:ext cx="137100" cy="4251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468640" y="864040"/>
            <a:ext cx="402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68640" y="1120072"/>
            <a:ext cx="80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Prefill: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291600" y="1120072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F.scaled_dot_product_attention (flash-attn backed, O(T) memory) — avoids OOM at 32K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68640" y="1522408"/>
            <a:ext cx="80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Score: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291600" y="1522408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cuda_bmm_fA_qB_outer over all 32K K tokens — unavoidable; need scores before selection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68640" y="1924744"/>
            <a:ext cx="80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Select: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291600" y="1924744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torch.topk → n_sink + K + n_local positions gathered from packed INT4 V rows (64 KB vs 2 MB full)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68640" y="2327080"/>
            <a:ext cx="80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Attend: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291600" y="2327080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Gathered INT4 buffer fed directly into cuda_bmm_fA_qB_outer — no intermediate FP16 write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68640" y="2729416"/>
            <a:ext cx="80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Residual: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291600" y="2729416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FP16 matmul on last 128 tokens + sum — data stays 4-bit through the main kernel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17838" y="3517925"/>
            <a:ext cx="3924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Why decode is still slower (−36%)</a:t>
            </a:r>
            <a:endParaRPr b="0" i="0" sz="11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26679" y="3820981"/>
            <a:ext cx="390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Q@K^T scores all 32K tokens every step — identical cost to baseline (can't skip: need scores to select)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26679" y="4186838"/>
            <a:ext cx="390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Extra overhead: topk + sort + gather that baseline never pays</a:t>
            </a:r>
            <a:b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Tradeoff Analysis — Quality vs Memory vs Throughput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15"/>
          <p:cNvGraphicFramePr/>
          <p:nvPr/>
        </p:nvGraphicFramePr>
        <p:xfrm>
          <a:off x="201168" y="713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{50CC5755-6975-4ED8-ADE0-38A2E06BC0A0}</a:tableStyleId>
              </a:tblPr>
              <a:tblGrid>
                <a:gridCol w="1280150"/>
                <a:gridCol w="1005850"/>
                <a:gridCol w="1143000"/>
                <a:gridCol w="1097275"/>
                <a:gridCol w="1417325"/>
                <a:gridCol w="16459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KV Compression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Quality Overall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Decode B=1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Best Batch Tput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Deployment Fit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A8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A6A8A"/>
                          </a:solidFill>
                        </a:rPr>
                        <a:t>Baseline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1×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0.291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70 tok/s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497 @ BS=32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Reference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77CC"/>
                          </a:solidFill>
                        </a:rPr>
                        <a:t>KIVI 4-bit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~4×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0.292 ✓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29 tok/s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873 @ BS=32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Batch serving ≥ BS=16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77CC"/>
                          </a:solidFill>
                        </a:rPr>
                        <a:t>KIVI 2-bit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~4×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0.273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27 tok/s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957 @ BS=32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Max-batch, accept noise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TopK K=1024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None*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0.292 ✓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43 tok/s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N/A (B=1 only)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Single-req, long-ctx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1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9F1C"/>
                          </a:solidFill>
                        </a:rPr>
                        <a:t>SnapKV 0.4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</a:t>
                      </a:r>
                      <a:r>
                        <a:rPr lang="en-US" sz="950">
                          <a:solidFill>
                            <a:srgbClr val="1E293B"/>
                          </a:solidFill>
                        </a:rPr>
                        <a:t>2.5</a:t>
                      </a: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DC653"/>
                          </a:solidFill>
                        </a:rPr>
                        <a:t>0.295 ✓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~70 tok/s †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N/A (B=1 only)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Quality-neutral compress.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C3AED"/>
                          </a:solidFill>
                        </a:rPr>
                        <a:t>MLA (B=1)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3.9×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63946"/>
                          </a:solidFill>
                        </a:rPr>
                        <a:t>0.081 ✗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43 tok/s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N/A (B=1 only)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</a:rPr>
                        <a:t>Needs retraining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15"/>
          <p:cNvSpPr/>
          <p:nvPr/>
        </p:nvSpPr>
        <p:spPr>
          <a:xfrm>
            <a:off x="201168" y="303580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Key Observations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228600" y="3364992"/>
            <a:ext cx="219456" cy="219456"/>
          </a:xfrm>
          <a:prstGeom prst="ellipse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493776" y="3328416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single dominant method — each occupies a distinct quality/memory/latency operating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2423160" y="3364992"/>
            <a:ext cx="219456" cy="219456"/>
          </a:xfrm>
          <a:prstGeom prst="ellipse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2688336" y="3328416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KIVI 4-bit is the headline win for batch serving: lossless quality + 2.3× memory + 1.93× throughput at BS=32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617720" y="3364992"/>
            <a:ext cx="219456" cy="219456"/>
          </a:xfrm>
          <a:prstGeom prst="ellipse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882896" y="3328416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TopK- Method has additional over because of its sparsity. So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in terms of time appear at long context usually from &gt;32K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812280" y="3364992"/>
            <a:ext cx="219456" cy="219456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7077456" y="3328416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MLA is a memory and latency win today; quality needs a retrained checkpoint at longer context and higher rank; speed needs absorption 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201168" y="42245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TopK does not reduce KV storage size — only attention scope is sparse.   † SnapKV B=1 throughput interpolated from short-context measurements; not directly benchmarked at long context.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0" y="640080"/>
            <a:ext cx="137100" cy="4251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256032" y="73152"/>
            <a:ext cx="859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Tradeoff Analysis — Quality vs Memory vs Throughput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274320" y="4901184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8321040" y="4901184"/>
            <a:ext cx="64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50" y="821125"/>
            <a:ext cx="8702100" cy="350123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6"/>
          <p:cNvSpPr txBox="1"/>
          <p:nvPr/>
        </p:nvSpPr>
        <p:spPr>
          <a:xfrm>
            <a:off x="137100" y="4393275"/>
            <a:ext cx="900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1K context, KV compression barely moves the needle — model weights (~14 GB) dominate and all methods cluster within 1.5 GB of each other; the real savings only unlock at 32K+ where the KV cache grows large enough to rival the weights.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Kernel-Level Observations &amp; Long-Context Failure Analysis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201168" y="713232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201168" y="713232"/>
            <a:ext cx="54864" cy="1920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338328" y="80467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INT4 GEMV inefficiency at low 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338328" y="1170432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cuda_bmm_fA_qB_outer performs on-the-fly INT4→FP16 dequantization per GEMV. Modern tensor cores target INT8/FP16 GEMM; INT4 GEMV does not map to tensor core units, causing 2.5× slowdown vs FP16 GEMV at B=1. The bandwidth saving only pays off when decode approaches GEMM territory at BS≥16.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4654296" y="713232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4654296" y="713232"/>
            <a:ext cx="54864" cy="192024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4791456" y="80467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Triton fused Q·K^T scoring kernel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4791456" y="1170432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_topk_score_kernel fuses the per-head dot product + softmax + sum-across-heads in a single Triton launch. At 1K-4K sequence lengths, kernel launch overhead is negligible; the critical path is always HBM bandwidth, not compute or launch latency. PyTorch fallback incurs 2–3× overhead due to separate kernel dispatches.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201168" y="274320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201168" y="2743200"/>
            <a:ext cx="54864" cy="192024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338328" y="283464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Paged KV eliminates fragmentation at 32K+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38328" y="320040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TopK-Flash's 256-token page pool eliminates the contiguous 52 GB allocation that standard flash-attn requires at 32K context. This reduces TTFT by 33% — not from sparsity, but from allocation and prefill memory-access pattern improvement. Baseline OOMs at 64K; paged allocation handles it at 65.8 GB.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4654296" y="274320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4654296" y="2743200"/>
            <a:ext cx="54864" cy="192024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4791456" y="283464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KIVI residual buffer: hot FP16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791456" y="320040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last residual_length=128 tokens are never quantized. At short generation lengths where total decode tokens &lt; residual_length × n_layers, nearly all attention falls on the FP16 residual — KIVI provides minimal storage benefit in this regime. This is why KIVI TTFT is 3× slower than baseline: the full prefill quantization cost is paid upfront regardless.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Lessons Learned &amp; Future Work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201168" y="713232"/>
            <a:ext cx="416052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201168" y="713232"/>
            <a:ext cx="54864" cy="219456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347472" y="786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347472" y="1097280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KIVI 4-bit: +0.3% quality, 4× smaller KV, 1.93× throughput at BS=32 — deployable today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347472" y="1426464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SnapKV 0.4: lossless on 5/6 tasks with zero per-step overhead — surprisingly robust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347472" y="175564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TopK K=1024 matches baseline quality via different failure mode (wins triviaqa, loses multifieldqa)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347472" y="2084832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TopK-Flash paged KV provides real 32K TTFT and memory gains without quality cost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4480560" y="721462"/>
            <a:ext cx="4389000" cy="219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4480560" y="713232"/>
            <a:ext cx="54864" cy="21945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4626864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What Didn't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4626864" y="1097280"/>
            <a:ext cx="4023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TopK slower at B=1 (43 vs 70 tok/s) — scoring overhead &gt; sparse attention gain at 1K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4626864" y="1426464"/>
            <a:ext cx="4023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KIVI TTFT 3× slower — prefill quantization overhead is non-negligible for latency-sensitive 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4626864" y="1755648"/>
            <a:ext cx="4023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MLA quality collapse at this checkpoint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batching and absorption needs to be integrated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4626864" y="2084832"/>
            <a:ext cx="4023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201168" y="299923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Future Work that could be expl</a:t>
            </a:r>
            <a:r>
              <a:rPr b="1" lang="en-US" sz="1300">
                <a:solidFill>
                  <a:srgbClr val="0A2342"/>
                </a:solidFill>
                <a:latin typeface="Georgia"/>
                <a:ea typeface="Georgia"/>
                <a:cs typeface="Georgia"/>
                <a:sym typeface="Georgia"/>
              </a:rPr>
              <a:t>ored: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214610" y="3337560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214610" y="3337560"/>
            <a:ext cx="54900" cy="14631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324338" y="341071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 xml:space="preserve">  Batched decode for TopK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324338" y="3813048"/>
            <a:ext cx="187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Amortizes per-step scoring cost; expect KIVI-style crossover at BS≥8–16 — paged KV in TopK-Flash already batch-ready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2409170" y="3337560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2409170" y="3337560"/>
            <a:ext cx="54900" cy="14631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2518898" y="341071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00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 xml:space="preserve"> MLA checkpoint retraining at 4K+ context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2518898" y="3813048"/>
            <a:ext cx="187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Retrain with r=16–32 latent at 4K–8K context; preserve 3.9× compression while recovering QA task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603730" y="3337560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4603730" y="3337560"/>
            <a:ext cx="54900" cy="146310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713458" y="341071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000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 xml:space="preserve">  KIVI × TopK quantized-sparse hybrid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4713458" y="3813048"/>
            <a:ext cx="187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INT4 storage + sparse attention could yield batch-throughput (KIVI) and long-context TTFT (TopK-Flash) wins simultaneously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0" y="640080"/>
            <a:ext cx="137160" cy="4251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256032" y="73152"/>
            <a:ext cx="8595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Teamwork &amp; Contributions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8" name="Google Shape;438;p19"/>
          <p:cNvGraphicFramePr/>
          <p:nvPr/>
        </p:nvGraphicFramePr>
        <p:xfrm>
          <a:off x="210318" y="672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{50CC5755-6975-4ED8-ADE0-38A2E06BC0A0}</a:tableStyleId>
              </a:tblPr>
              <a:tblGrid>
                <a:gridCol w="1828800"/>
                <a:gridCol w="640075"/>
                <a:gridCol w="3566150"/>
                <a:gridCol w="2651750"/>
              </a:tblGrid>
              <a:tr h="21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Member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UNI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Primary Contributions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Key Artifacts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52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77CC"/>
                          </a:solidFill>
                        </a:rPr>
                        <a:t>Rishika Mamidibathula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636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36363"/>
                          </a:solidFill>
                        </a:rPr>
                        <a:t>rm4318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 xml:space="preserve">TopK + TopK-Flash methods, long-context 32K evaluation, Modal + W&amp;B harness,Code setup, TopK-KIVI hybrid ; </a:t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 xml:space="preserve">methods/topk_selection.py, llama_topk_flash_model.py, modal_topk_throughput.py, 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077CC"/>
                          </a:solidFill>
                        </a:rPr>
                        <a:t>Suhas Morisetty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636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36363"/>
                          </a:solidFill>
                        </a:rPr>
                        <a:t>vm2825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>KIVI 2/4-bit quantization, custom CUDA + Triton kernels, batch-size throughput benchmarking, benchmark setup</a:t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 xml:space="preserve">methods/kivi_quant.py, llama_kivi_model.py, methods/kivi_kernels/, modal_throughput.py, </a:t>
                      </a: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>benchmark/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077CC"/>
                          </a:solidFill>
                        </a:rPr>
                        <a:t>Ziheng Weng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636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36363"/>
                          </a:solidFill>
                        </a:rPr>
                        <a:t>zw3153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MLA latent KV via TransMLA, MLA throughput sweep, SnapKV integration, RoPE + grouped-query plumbing</a:t>
                      </a:r>
                      <a:endParaRPr sz="1000" u="none" cap="none" strike="noStrike">
                        <a:solidFill>
                          <a:srgbClr val="1E293B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methods/transmla/, modal_mla_benchmark.py, modal_mla_throughput.py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77CC"/>
                          </a:solidFill>
                        </a:rPr>
                        <a:t>Tony Tian</a:t>
                      </a:r>
                      <a:endParaRPr sz="1000">
                        <a:solidFill>
                          <a:srgbClr val="0077CC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636363"/>
                          </a:solidFill>
                        </a:rPr>
                        <a:t>jt3640</a:t>
                      </a:r>
                      <a:endParaRPr sz="1000" u="none" cap="none" strike="noStrike">
                        <a:solidFill>
                          <a:srgbClr val="636363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>SnapKV integration, LongBench experimentation and analysis</a:t>
                      </a:r>
                      <a:endParaRPr sz="100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>methods/snapkv/, evaluation scripts, benchmark integration</a:t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19"/>
          <p:cNvSpPr/>
          <p:nvPr/>
        </p:nvSpPr>
        <p:spPr>
          <a:xfrm>
            <a:off x="210306" y="3396548"/>
            <a:ext cx="8686800" cy="141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214855" y="3391998"/>
            <a:ext cx="54900" cy="141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347460" y="33892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Infrastructure &amp; Collaboration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347447" y="3663389"/>
            <a:ext cx="8229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Unified harness: same model, tokenizer, seed, and hardware across all comparisons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347447" y="3992574"/>
            <a:ext cx="8229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• Modal: reproducible H100 environment pinned via requirements.txt; results persisted to </a:t>
            </a: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Modal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volumes; all numbers reproducible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347447" y="4321758"/>
            <a:ext cx="8229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W&amp;B tracking: all runs logged at wandb.ai/rm4318-columbia-university/kv-cache-hpml — TTFT, decode throughput, peak memory, LongBench per-task scores, method config per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0" y="91440"/>
            <a:ext cx="109728" cy="496062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256032" y="960120"/>
            <a:ext cx="8595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256032" y="201168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0"/>
          <p:cNvCxnSpPr/>
          <p:nvPr/>
        </p:nvCxnSpPr>
        <p:spPr>
          <a:xfrm>
            <a:off x="256032" y="2633472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2A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0"/>
          <p:cNvSpPr/>
          <p:nvPr/>
        </p:nvSpPr>
        <p:spPr>
          <a:xfrm>
            <a:off x="256032" y="278892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B4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B4D4"/>
                </a:solidFill>
                <a:latin typeface="Calibri"/>
                <a:ea typeface="Calibri"/>
                <a:cs typeface="Calibri"/>
                <a:sym typeface="Calibri"/>
              </a:rPr>
              <a:t xml:space="preserve">GitHub: </a:t>
            </a:r>
            <a:r>
              <a:rPr b="0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github.com/rishika1099/KV-Cache-Implementation</a:t>
            </a:r>
            <a:br>
              <a:rPr b="0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B4D4"/>
                </a:solidFill>
                <a:latin typeface="Calibri"/>
                <a:ea typeface="Calibri"/>
                <a:cs typeface="Calibri"/>
                <a:sym typeface="Calibri"/>
              </a:rPr>
              <a:t xml:space="preserve">W&amp;B: </a:t>
            </a:r>
            <a:r>
              <a:rPr b="0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wandb.ai/rm4318-columbia-university/kv-cache-hpml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8321040" y="49011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16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